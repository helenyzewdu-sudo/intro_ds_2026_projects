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5" r:id="rId11"/>
    <p:sldId id="264" r:id="rId12"/>
    <p:sldId id="266" r:id="rId13"/>
    <p:sldId id="268" r:id="rId14"/>
    <p:sldId id="271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0BD44-FB87-9F20-1124-F11652C90D63}" v="3702" dt="2026-04-27T22:32:53.112"/>
    <p1510:client id="{8A373EB1-3A91-0DF9-3B5B-1B53F5AEE928}" v="234" dt="2026-04-28T03:17:11.034"/>
    <p1510:client id="{AF4B02F8-F9FC-7676-6A0D-7B757BF532BD}" v="756" dt="2026-04-27T01:30:39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olice officers standing around a car on a street&#10;&#10;AI-generated content may be incorrect.">
            <a:extLst>
              <a:ext uri="{FF2B5EF4-FFF2-40B4-BE49-F238E27FC236}">
                <a16:creationId xmlns:a16="http://schemas.microsoft.com/office/drawing/2014/main" id="{AC492036-B006-3DF4-BAF2-E3E52D7C64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4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/>
                <a:cs typeface="Times New Roman"/>
              </a:rPr>
              <a:t>Crimes and Their Patterns: Visual Inspe</a:t>
            </a:r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ction</a:t>
            </a:r>
            <a:endParaRPr lang="en-US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Helen Zewdu</a:t>
            </a:r>
          </a:p>
          <a:p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Spring Introduction to Data Science </a:t>
            </a:r>
          </a:p>
          <a:p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MATH-014-01</a:t>
            </a:r>
          </a:p>
          <a:p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Spring 2026 - Howard University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police line tape&#10;&#10;AI-generated content may be incorrect.">
            <a:extLst>
              <a:ext uri="{FF2B5EF4-FFF2-40B4-BE49-F238E27FC236}">
                <a16:creationId xmlns:a16="http://schemas.microsoft.com/office/drawing/2014/main" id="{DB4E799B-75D4-8DC7-3B80-0B76963C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2" r="318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9639B-9B00-6CB0-574C-5A57E7DCB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latin typeface="Times New Roman"/>
                <a:ea typeface="Calibri"/>
                <a:cs typeface="Times New Roman"/>
              </a:rPr>
              <a:t>Data Set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FCAE9-BD53-954E-0677-5EA7AE05E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>
                <a:latin typeface="Times New Roman"/>
                <a:cs typeface="Times New Roman"/>
              </a:rPr>
              <a:t>Dataset chosen</a:t>
            </a:r>
            <a:r>
              <a:rPr lang="en-US" sz="1700">
                <a:latin typeface="Times New Roman"/>
                <a:cs typeface="Times New Roman"/>
              </a:rPr>
              <a:t>: Washington, D.C Crime Incidents (2025)</a:t>
            </a:r>
          </a:p>
          <a:p>
            <a:r>
              <a:rPr lang="en-US" sz="1700" b="1">
                <a:latin typeface="Times New Roman"/>
                <a:cs typeface="Times New Roman"/>
              </a:rPr>
              <a:t>Variables and Records:</a:t>
            </a:r>
            <a:r>
              <a:rPr lang="en-US" sz="1700">
                <a:latin typeface="Times New Roman"/>
                <a:cs typeface="Times New Roman"/>
              </a:rPr>
              <a:t> Offense Type, Hour of Crime, Shift (morning, afternoon, evening), Latitude and Longitude (geographic location). </a:t>
            </a:r>
          </a:p>
          <a:p>
            <a:r>
              <a:rPr lang="en-US" sz="1700" b="1">
                <a:latin typeface="Times New Roman"/>
                <a:cs typeface="Times New Roman"/>
              </a:rPr>
              <a:t>Importance/Significance:</a:t>
            </a:r>
            <a:r>
              <a:rPr lang="en-US" sz="1700">
                <a:latin typeface="Times New Roman"/>
                <a:cs typeface="Times New Roman"/>
              </a:rPr>
              <a:t> This data set shows real-word crime patterns and occurrences happening within the Washington, D.C area in the year of 2025. In addition, this helps us examine both the time and geographic significance that plays a part in crime occurrence. </a:t>
            </a:r>
          </a:p>
        </p:txBody>
      </p:sp>
    </p:spTree>
    <p:extLst>
      <p:ext uri="{BB962C8B-B14F-4D97-AF65-F5344CB8AC3E}">
        <p14:creationId xmlns:p14="http://schemas.microsoft.com/office/powerpoint/2010/main" val="300182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-up of a yellow tape&#10;&#10;AI-generated content may be incorrect.">
            <a:extLst>
              <a:ext uri="{FF2B5EF4-FFF2-40B4-BE49-F238E27FC236}">
                <a16:creationId xmlns:a16="http://schemas.microsoft.com/office/drawing/2014/main" id="{CD5E5780-D84C-6A8B-688A-72AEFBB2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1" r="2" b="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166E6-00B2-50B2-4E53-D33BDE47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Objective: Crime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F161D-4137-01C6-AC63-97E1E86BC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Research Question:</a:t>
            </a:r>
            <a:r>
              <a:rPr lang="en-US" sz="2000">
                <a:latin typeface="Times New Roman"/>
                <a:cs typeface="Times New Roman"/>
              </a:rPr>
              <a:t>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How does the frequency of crime fluctuate in various times of the day?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i="1">
                <a:latin typeface="Times New Roman"/>
                <a:cs typeface="Times New Roman"/>
              </a:rPr>
              <a:t>Analyze</a:t>
            </a:r>
            <a:r>
              <a:rPr lang="en-US" sz="2000">
                <a:latin typeface="Times New Roman"/>
                <a:cs typeface="Times New Roman"/>
              </a:rPr>
              <a:t> and </a:t>
            </a:r>
            <a:r>
              <a:rPr lang="en-US" sz="2000" b="1" i="1">
                <a:latin typeface="Times New Roman"/>
                <a:cs typeface="Times New Roman"/>
              </a:rPr>
              <a:t>examine</a:t>
            </a:r>
            <a:r>
              <a:rPr lang="en-US" sz="2000">
                <a:latin typeface="Times New Roman"/>
                <a:cs typeface="Times New Roman"/>
              </a:rPr>
              <a:t> crime occurrences within the Washington D.C Metropolitan area. </a:t>
            </a:r>
            <a:endParaRPr lang="en-US" sz="2000"/>
          </a:p>
          <a:p>
            <a:r>
              <a:rPr lang="en-US" sz="2000">
                <a:latin typeface="Times New Roman"/>
                <a:cs typeface="Times New Roman"/>
              </a:rPr>
              <a:t>Look at the relationship between different variables so that I can see trends and patterns. </a:t>
            </a:r>
          </a:p>
          <a:p>
            <a:r>
              <a:rPr lang="en-US" sz="2000" dirty="0">
                <a:latin typeface="Times New Roman"/>
                <a:cs typeface="Times New Roman"/>
              </a:rPr>
              <a:t>Uncover </a:t>
            </a:r>
            <a:r>
              <a:rPr lang="en-US" sz="2000">
                <a:latin typeface="Times New Roman"/>
                <a:cs typeface="Times New Roman"/>
              </a:rPr>
              <a:t>whether a specific time have more/less crime occurences. </a:t>
            </a: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833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D8535-8E56-910B-CBE8-2EBD22D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E9C4-18CB-A543-9A72-966E820D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b="1" i="1">
                <a:latin typeface="Times New Roman"/>
                <a:cs typeface="Times New Roman"/>
              </a:rPr>
              <a:t>Cleaned</a:t>
            </a:r>
            <a:r>
              <a:rPr lang="en-US" sz="1400">
                <a:latin typeface="Times New Roman"/>
                <a:cs typeface="Times New Roman"/>
              </a:rPr>
              <a:t> and </a:t>
            </a:r>
            <a:r>
              <a:rPr lang="en-US" sz="1400" b="1" i="1">
                <a:latin typeface="Times New Roman"/>
                <a:cs typeface="Times New Roman"/>
              </a:rPr>
              <a:t>Prepared</a:t>
            </a:r>
            <a:r>
              <a:rPr lang="en-US" sz="1400">
                <a:latin typeface="Times New Roman"/>
                <a:cs typeface="Times New Roman"/>
              </a:rPr>
              <a:t> the data set by understanding how many rows and columns: 24151 rows and 25 columns.</a:t>
            </a:r>
          </a:p>
          <a:p>
            <a:r>
              <a:rPr lang="en-US" sz="1400" b="1" i="1">
                <a:latin typeface="Times New Roman"/>
                <a:cs typeface="Times New Roman"/>
              </a:rPr>
              <a:t>Looked for missing values:</a:t>
            </a:r>
            <a:r>
              <a:rPr lang="en-US" sz="1400">
                <a:latin typeface="Times New Roman"/>
                <a:cs typeface="Times New Roman"/>
              </a:rPr>
              <a:t> Missing values in variables END_DATE, DISTRICT, PSA, BID, and OCTO_RECORD_ID. (removed these irrelevant columns.)</a:t>
            </a:r>
          </a:p>
          <a:p>
            <a:r>
              <a:rPr lang="en-US" sz="1400">
                <a:latin typeface="Times New Roman"/>
                <a:cs typeface="Times New Roman"/>
              </a:rPr>
              <a:t>Found </a:t>
            </a:r>
            <a:r>
              <a:rPr lang="en-US" sz="1400" i="1">
                <a:latin typeface="Times New Roman"/>
                <a:cs typeface="Times New Roman"/>
              </a:rPr>
              <a:t>0 duplicated records</a:t>
            </a:r>
            <a:r>
              <a:rPr lang="en-US" sz="1400">
                <a:latin typeface="Times New Roman"/>
                <a:cs typeface="Times New Roman"/>
              </a:rPr>
              <a:t>. </a:t>
            </a:r>
          </a:p>
          <a:p>
            <a:r>
              <a:rPr lang="en-US" sz="1400">
                <a:latin typeface="Times New Roman"/>
                <a:cs typeface="Times New Roman"/>
              </a:rPr>
              <a:t>Standardized column names and string entities to ensure clear and consistent patterns for data analyzation.</a:t>
            </a:r>
          </a:p>
          <a:p>
            <a:r>
              <a:rPr lang="en-US" sz="1400" b="1" dirty="0">
                <a:latin typeface="Times New Roman"/>
                <a:cs typeface="Times New Roman"/>
              </a:rPr>
              <a:t>Datetime objects: </a:t>
            </a:r>
            <a:r>
              <a:rPr lang="en-US" sz="1400" b="1" dirty="0" err="1">
                <a:latin typeface="Times New Roman"/>
                <a:cs typeface="Times New Roman"/>
              </a:rPr>
              <a:t>start_date</a:t>
            </a:r>
            <a:r>
              <a:rPr lang="en-US" sz="1400" b="1" dirty="0">
                <a:latin typeface="Times New Roman"/>
                <a:cs typeface="Times New Roman"/>
              </a:rPr>
              <a:t> --&gt; 'hour'</a:t>
            </a:r>
          </a:p>
          <a:p>
            <a:r>
              <a:rPr lang="en-US" sz="1400">
                <a:latin typeface="Times New Roman"/>
                <a:cs typeface="Times New Roman"/>
              </a:rPr>
              <a:t>Dropped irrelevant columns unnecessary towards my research. </a:t>
            </a:r>
          </a:p>
          <a:p>
            <a:r>
              <a:rPr lang="en-US" sz="1400">
                <a:latin typeface="Times New Roman"/>
                <a:cs typeface="Times New Roman"/>
              </a:rPr>
              <a:t>Created variables "hour" and encoded offenses for numeric visualizations. </a:t>
            </a:r>
            <a:endParaRPr lang="en-US" sz="1400" dirty="0">
              <a:latin typeface="Times New Roman"/>
              <a:cs typeface="Times New Roman"/>
            </a:endParaRP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016D12E4-4CB5-28E7-84D0-98C43492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36" r="23448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0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1607DB3-AFE1-B23A-C964-350DBF24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D6C62-DCDC-6FB0-AF2C-5C9479CE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Key Analysis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AC64B-E0FA-01E8-1D01-1570EAFDC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>
                <a:latin typeface="Times New Roman"/>
                <a:cs typeface="Times New Roman"/>
              </a:rPr>
              <a:t>Main Research Question:</a:t>
            </a:r>
          </a:p>
          <a:p>
            <a:pPr marL="0" indent="0">
              <a:buNone/>
            </a:pPr>
            <a:r>
              <a:rPr lang="en-US" sz="1900" b="1" i="1">
                <a:highlight>
                  <a:srgbClr val="FFFFFF"/>
                </a:highlight>
                <a:latin typeface="Times New Roman"/>
                <a:cs typeface="Times New Roman"/>
              </a:rPr>
              <a:t>How does the frequency of crime fluctuate in various times of the day?</a:t>
            </a:r>
            <a:endParaRPr lang="en-US" sz="1900" b="1" i="1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900" b="1" i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Additional Research:</a:t>
            </a:r>
            <a:r>
              <a:rPr lang="en-US" sz="1900" dirty="0"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</a:p>
          <a:p>
            <a:pPr marL="0" indent="0">
              <a:buNone/>
            </a:pPr>
            <a:r>
              <a:rPr lang="en-US" sz="1900" b="1" i="1">
                <a:highlight>
                  <a:srgbClr val="FFFFFF"/>
                </a:highlight>
                <a:latin typeface="Times New Roman"/>
                <a:cs typeface="Times New Roman"/>
              </a:rPr>
              <a:t>Does crime frequency differ by neighborhood cluster?</a:t>
            </a:r>
            <a:endParaRPr lang="en-US" sz="1900" b="1" i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900" b="1" i="1">
                <a:highlight>
                  <a:srgbClr val="FFFFFF"/>
                </a:highlight>
                <a:latin typeface="Times New Roman"/>
                <a:cs typeface="Times New Roman"/>
              </a:rPr>
              <a:t>Does latitude (geographic </a:t>
            </a:r>
            <a:r>
              <a:rPr lang="en-US" sz="1900" b="1" i="1" dirty="0">
                <a:highlight>
                  <a:srgbClr val="FFFFFF"/>
                </a:highlight>
                <a:latin typeface="Times New Roman"/>
                <a:cs typeface="Times New Roman"/>
              </a:rPr>
              <a:t>location) vary by the type of offense committed?</a:t>
            </a:r>
            <a:endParaRPr lang="en-US" sz="1900" b="1" i="1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9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62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16198-943C-8C2E-1DC6-812B809D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ea typeface="Calibri"/>
                <a:cs typeface="Times New Roman"/>
              </a:rPr>
              <a:t>Histogram – Number of Crimes per Hour</a:t>
            </a:r>
            <a:endParaRPr lang="en-US" sz="4000" b="1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Content Placeholder 3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AEE943FB-907F-C295-53E2-0F62181B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475124"/>
            <a:ext cx="5804955" cy="354102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B66937-1A68-1331-481F-CA2E65A9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b="1" i="1" dirty="0">
                <a:latin typeface="Times New Roman"/>
                <a:cs typeface="Times New Roman"/>
              </a:rPr>
              <a:t>What: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Shows</a:t>
            </a:r>
            <a:r>
              <a:rPr lang="en-US" sz="2000" dirty="0">
                <a:latin typeface="Times New Roman"/>
                <a:cs typeface="Times New Roman"/>
              </a:rPr>
              <a:t> crime frequencies and its changes throughout the day. </a:t>
            </a:r>
            <a:endParaRPr lang="en-US"/>
          </a:p>
          <a:p>
            <a:r>
              <a:rPr lang="en-US" sz="2000" b="1" i="1" dirty="0">
                <a:latin typeface="Times New Roman"/>
                <a:cs typeface="Times New Roman"/>
              </a:rPr>
              <a:t>Why:</a:t>
            </a:r>
            <a:r>
              <a:rPr lang="en-US" sz="2000" dirty="0">
                <a:latin typeface="Times New Roman"/>
                <a:cs typeface="Times New Roman"/>
              </a:rPr>
              <a:t> Helps name which hour of the day holds more crime </a:t>
            </a:r>
            <a:r>
              <a:rPr lang="en-US" sz="2000">
                <a:latin typeface="Times New Roman"/>
                <a:cs typeface="Times New Roman"/>
              </a:rPr>
              <a:t>occurrences</a:t>
            </a:r>
            <a:r>
              <a:rPr lang="en-US" sz="2000" dirty="0">
                <a:latin typeface="Times New Roman"/>
                <a:cs typeface="Times New Roman"/>
              </a:rPr>
              <a:t> so that I can further analyze my research question.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Insight: </a:t>
            </a:r>
            <a:r>
              <a:rPr lang="en-US" sz="2000" dirty="0">
                <a:latin typeface="Times New Roman"/>
                <a:cs typeface="Times New Roman"/>
              </a:rPr>
              <a:t>Peak of crimes occur in the </a:t>
            </a:r>
            <a:r>
              <a:rPr lang="en-US" sz="2000">
                <a:latin typeface="Times New Roman"/>
                <a:cs typeface="Times New Roman"/>
              </a:rPr>
              <a:t>evening's</a:t>
            </a:r>
            <a:r>
              <a:rPr lang="en-US" sz="2000" dirty="0">
                <a:latin typeface="Times New Roman"/>
                <a:cs typeface="Times New Roman"/>
              </a:rPr>
              <a:t> hours, supporting my </a:t>
            </a:r>
            <a:r>
              <a:rPr lang="en-US" sz="2000">
                <a:latin typeface="Times New Roman"/>
                <a:cs typeface="Times New Roman"/>
              </a:rPr>
              <a:t>research question.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Example:</a:t>
            </a:r>
            <a:r>
              <a:rPr lang="en-US" sz="2000" dirty="0">
                <a:latin typeface="Times New Roman"/>
                <a:cs typeface="Times New Roman"/>
              </a:rPr>
              <a:t> Difference between hours 15-21 (approx. 3-9 </a:t>
            </a:r>
            <a:r>
              <a:rPr lang="en-US" sz="2000">
                <a:latin typeface="Times New Roman"/>
                <a:cs typeface="Times New Roman"/>
              </a:rPr>
              <a:t>p.m.</a:t>
            </a:r>
            <a:r>
              <a:rPr lang="en-US" sz="2000" dirty="0">
                <a:latin typeface="Times New Roman"/>
                <a:cs typeface="Times New Roman"/>
              </a:rPr>
              <a:t>) higher </a:t>
            </a:r>
            <a:r>
              <a:rPr lang="en-US" sz="2000">
                <a:latin typeface="Times New Roman"/>
                <a:cs typeface="Times New Roman"/>
              </a:rPr>
              <a:t>frequency than hours 6-9.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i="1" dirty="0">
                <a:latin typeface="Times New Roman"/>
                <a:cs typeface="Times New Roman"/>
              </a:rPr>
              <a:t>Supports</a:t>
            </a:r>
            <a:r>
              <a:rPr lang="en-US" sz="2000" dirty="0">
                <a:latin typeface="Times New Roman"/>
                <a:cs typeface="Times New Roman"/>
              </a:rPr>
              <a:t> research qu</a:t>
            </a:r>
            <a:r>
              <a:rPr lang="en-US" sz="2000">
                <a:latin typeface="Times New Roman"/>
                <a:cs typeface="Times New Roman"/>
              </a:rPr>
              <a:t>estion in that crime increases in the evening hours. 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861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B2A80-268C-14B0-9F11-2E776790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Heatmap – Is this a </a:t>
            </a:r>
            <a:r>
              <a:rPr lang="en-US" sz="4000" b="1">
                <a:latin typeface="Times New Roman"/>
                <a:cs typeface="Times New Roman"/>
              </a:rPr>
              <a:t>simple relationship?</a:t>
            </a:r>
            <a:endParaRPr lang="en-US" sz="4000" b="1" dirty="0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chart of heat map of numeric crime features&#10;&#10;AI-generated content may be incorrect.">
            <a:extLst>
              <a:ext uri="{FF2B5EF4-FFF2-40B4-BE49-F238E27FC236}">
                <a16:creationId xmlns:a16="http://schemas.microsoft.com/office/drawing/2014/main" id="{DC77BEF8-3D96-2A18-530E-90CE1F7E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421" y="2357888"/>
            <a:ext cx="4576356" cy="377549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B514AF-356D-9FDB-E046-E8E0BDB8D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000" b="1" i="1">
                <a:latin typeface="Times New Roman"/>
                <a:cs typeface="Times New Roman"/>
              </a:rPr>
              <a:t>What: </a:t>
            </a:r>
            <a:r>
              <a:rPr lang="en-US" sz="2000">
                <a:latin typeface="Times New Roman"/>
                <a:cs typeface="Times New Roman"/>
              </a:rPr>
              <a:t>Shows the strength and direction of numerical values such as hour, latitude, longitude.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Why:</a:t>
            </a:r>
            <a:r>
              <a:rPr lang="en-US" sz="2000" dirty="0">
                <a:latin typeface="Times New Roman"/>
                <a:cs typeface="Times New Roman"/>
              </a:rPr>
              <a:t> Do these variables have a relationship? Are they </a:t>
            </a:r>
            <a:r>
              <a:rPr lang="en-US" sz="2000">
                <a:latin typeface="Times New Roman"/>
                <a:cs typeface="Times New Roman"/>
              </a:rPr>
              <a:t>directly correlated to one another?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Insight: </a:t>
            </a:r>
            <a:r>
              <a:rPr lang="en-US" sz="2000" dirty="0">
                <a:latin typeface="Times New Roman"/>
                <a:cs typeface="Times New Roman"/>
              </a:rPr>
              <a:t>Weak relationships between variables. Crime </a:t>
            </a:r>
            <a:r>
              <a:rPr lang="en-US" sz="2000" dirty="0" err="1">
                <a:latin typeface="Times New Roman"/>
                <a:cs typeface="Times New Roman"/>
              </a:rPr>
              <a:t>occurences</a:t>
            </a:r>
            <a:r>
              <a:rPr lang="en-US" sz="2000" dirty="0">
                <a:latin typeface="Times New Roman"/>
                <a:cs typeface="Times New Roman"/>
              </a:rPr>
              <a:t> do not hold consistent rates of change.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Example:</a:t>
            </a:r>
            <a:r>
              <a:rPr lang="en-US" sz="2000" dirty="0">
                <a:latin typeface="Times New Roman"/>
                <a:cs typeface="Times New Roman"/>
              </a:rPr>
              <a:t> Variable strength and direction all closer to the value of 0 (hour and longitude, offense type and hour).</a:t>
            </a:r>
          </a:p>
          <a:p>
            <a:r>
              <a:rPr lang="en-US" sz="2000">
                <a:latin typeface="Times New Roman"/>
                <a:cs typeface="Times New Roman"/>
              </a:rPr>
              <a:t>When the hour of the crime changes, other variables do not sequentially grow or decline. 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7111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9A3D5-8032-3FCE-81AC-30075840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cs typeface="Times New Roman"/>
              </a:rPr>
              <a:t>Geo-map: Evening Crime Incidents</a:t>
            </a:r>
          </a:p>
        </p:txBody>
      </p:sp>
      <p:pic>
        <p:nvPicPr>
          <p:cNvPr id="4" name="Content Placeholder 3" descr="A map with blue squares and red dots&#10;&#10;AI-generated content may be incorrect.">
            <a:extLst>
              <a:ext uri="{FF2B5EF4-FFF2-40B4-BE49-F238E27FC236}">
                <a16:creationId xmlns:a16="http://schemas.microsoft.com/office/drawing/2014/main" id="{D0E86536-1144-2C0B-C0F7-F836C3891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649272"/>
            <a:ext cx="5804955" cy="319272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8054F1-B297-94DA-4E29-7B6608122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000" b="1" i="1" dirty="0">
                <a:latin typeface="Times New Roman"/>
                <a:cs typeface="Times New Roman"/>
              </a:rPr>
              <a:t>What:</a:t>
            </a:r>
            <a:r>
              <a:rPr lang="en-US" sz="2000" dirty="0">
                <a:latin typeface="Times New Roman"/>
                <a:cs typeface="Times New Roman"/>
              </a:rPr>
              <a:t> Interactive </a:t>
            </a:r>
            <a:r>
              <a:rPr lang="en-US" sz="2000">
                <a:latin typeface="Times New Roman"/>
                <a:cs typeface="Times New Roman"/>
              </a:rPr>
              <a:t>map that displays the </a:t>
            </a:r>
            <a:r>
              <a:rPr lang="en-US" sz="2000" dirty="0">
                <a:latin typeface="Times New Roman"/>
                <a:cs typeface="Times New Roman"/>
              </a:rPr>
              <a:t>spatial patterns within the Washington D.C area.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Why:</a:t>
            </a:r>
            <a:r>
              <a:rPr lang="en-US" sz="2000" dirty="0">
                <a:latin typeface="Times New Roman"/>
                <a:cs typeface="Times New Roman"/>
              </a:rPr>
              <a:t> Helps analyze the different areas in which crimes may occur more </a:t>
            </a:r>
            <a:r>
              <a:rPr lang="en-US" sz="2000">
                <a:latin typeface="Times New Roman"/>
                <a:cs typeface="Times New Roman"/>
              </a:rPr>
              <a:t>often. 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Insight:</a:t>
            </a:r>
            <a:r>
              <a:rPr lang="en-US" sz="2000" dirty="0">
                <a:latin typeface="Times New Roman"/>
                <a:cs typeface="Times New Roman"/>
              </a:rPr>
              <a:t> Crimes are clustered in the </a:t>
            </a:r>
            <a:r>
              <a:rPr lang="en-US" sz="2000">
                <a:latin typeface="Times New Roman"/>
                <a:cs typeface="Times New Roman"/>
              </a:rPr>
              <a:t>center of the map, near the center and of downtown D.C.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Example:</a:t>
            </a:r>
            <a:r>
              <a:rPr lang="en-US" sz="2000" dirty="0">
                <a:latin typeface="Times New Roman"/>
                <a:cs typeface="Times New Roman"/>
              </a:rPr>
              <a:t> clustered points of crime are in the center of Washington, D.C. In comparison, other areas on the map have less frequent crime </a:t>
            </a:r>
            <a:r>
              <a:rPr lang="en-US" sz="2000">
                <a:latin typeface="Times New Roman"/>
                <a:cs typeface="Times New Roman"/>
              </a:rPr>
              <a:t>occurrences</a:t>
            </a:r>
            <a:r>
              <a:rPr lang="en-US" sz="2000" dirty="0">
                <a:latin typeface="Times New Roman"/>
                <a:cs typeface="Times New Roman"/>
              </a:rPr>
              <a:t>. </a:t>
            </a:r>
          </a:p>
          <a:p>
            <a:r>
              <a:rPr lang="en-US" sz="2000" dirty="0">
                <a:latin typeface="Times New Roman"/>
                <a:cs typeface="Times New Roman"/>
              </a:rPr>
              <a:t>Colored dots = specific crime (cluster of blue dots </a:t>
            </a:r>
            <a:r>
              <a:rPr lang="en-US" sz="2000">
                <a:latin typeface="Times New Roman"/>
                <a:cs typeface="Times New Roman"/>
              </a:rPr>
              <a:t>showing a high rate of armed robberies. </a:t>
            </a:r>
          </a:p>
        </p:txBody>
      </p:sp>
    </p:spTree>
    <p:extLst>
      <p:ext uri="{BB962C8B-B14F-4D97-AF65-F5344CB8AC3E}">
        <p14:creationId xmlns:p14="http://schemas.microsoft.com/office/powerpoint/2010/main" val="4024575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9DFA9-13E3-636E-0ECF-232B7B92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Animated Line </a:t>
            </a:r>
            <a:r>
              <a:rPr lang="en-US" sz="4000" b="1">
                <a:latin typeface="Times New Roman"/>
                <a:cs typeface="Times New Roman"/>
              </a:rPr>
              <a:t>Plot Chart</a:t>
            </a:r>
            <a:endParaRPr lang="en-US" sz="4000" b="1" dirty="0">
              <a:latin typeface="Times New Roman"/>
              <a:cs typeface="Times New Roman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8BABA4-BB34-1B31-DB89-82F04B7C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663785"/>
            <a:ext cx="5804955" cy="3163699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9FD0BA-5E37-5320-C62F-ED81B6BB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/>
          </a:bodyPr>
          <a:lstStyle/>
          <a:p>
            <a:r>
              <a:rPr lang="en-US" sz="2000" b="1" i="1" dirty="0">
                <a:latin typeface="Times New Roman"/>
                <a:cs typeface="Times New Roman"/>
              </a:rPr>
              <a:t>What: </a:t>
            </a:r>
            <a:r>
              <a:rPr lang="en-US" sz="2000" dirty="0">
                <a:latin typeface="Times New Roman"/>
                <a:cs typeface="Times New Roman"/>
              </a:rPr>
              <a:t>Animated line chart showing the temporal crime patterns </a:t>
            </a:r>
            <a:r>
              <a:rPr lang="en-US" sz="2000">
                <a:latin typeface="Times New Roman"/>
                <a:cs typeface="Times New Roman"/>
              </a:rPr>
              <a:t>between shift of the day and hour by crime type.</a:t>
            </a:r>
          </a:p>
          <a:p>
            <a:r>
              <a:rPr lang="en-US" sz="2000" b="1" i="1">
                <a:latin typeface="Times New Roman"/>
                <a:cs typeface="Times New Roman"/>
              </a:rPr>
              <a:t>Why:</a:t>
            </a:r>
            <a:r>
              <a:rPr lang="en-US" sz="2000">
                <a:latin typeface="Times New Roman"/>
                <a:cs typeface="Times New Roman"/>
              </a:rPr>
              <a:t> Interactive graph that visualizes the change in crime through crime.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Insight:</a:t>
            </a:r>
            <a:r>
              <a:rPr lang="en-US" sz="2000" dirty="0">
                <a:latin typeface="Times New Roman"/>
                <a:cs typeface="Times New Roman"/>
              </a:rPr>
              <a:t> When animating the graph, the red line (evening) peaks higher during hours 15-20, </a:t>
            </a:r>
            <a:r>
              <a:rPr lang="en-US" sz="2000">
                <a:latin typeface="Times New Roman"/>
                <a:cs typeface="Times New Roman"/>
              </a:rPr>
              <a:t>showing</a:t>
            </a:r>
            <a:r>
              <a:rPr lang="en-US" sz="2000" dirty="0">
                <a:latin typeface="Times New Roman"/>
                <a:cs typeface="Times New Roman"/>
              </a:rPr>
              <a:t> higher </a:t>
            </a:r>
            <a:r>
              <a:rPr lang="en-US" sz="2000">
                <a:latin typeface="Times New Roman"/>
                <a:cs typeface="Times New Roman"/>
              </a:rPr>
              <a:t>crime frequency later in the evening.</a:t>
            </a:r>
          </a:p>
        </p:txBody>
      </p:sp>
    </p:spTree>
    <p:extLst>
      <p:ext uri="{BB962C8B-B14F-4D97-AF65-F5344CB8AC3E}">
        <p14:creationId xmlns:p14="http://schemas.microsoft.com/office/powerpoint/2010/main" val="1505331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9268D-111B-15AD-80FA-B581B6D3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cs typeface="Times New Roman"/>
              </a:rPr>
              <a:t>Violin Plot</a:t>
            </a:r>
            <a:endParaRPr lang="en-US" sz="4000" b="1" dirty="0">
              <a:latin typeface="Times New Roman"/>
              <a:cs typeface="Times New Roman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F6DF48-F3E5-7607-74AD-20DFCAC2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380793"/>
            <a:ext cx="5804955" cy="372968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70F594-82B6-8E83-0FDB-2F89F3C64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 lnSpcReduction="10000"/>
          </a:bodyPr>
          <a:lstStyle/>
          <a:p>
            <a:r>
              <a:rPr lang="en-US" sz="2000" b="1" i="1" dirty="0">
                <a:latin typeface="Times New Roman"/>
                <a:cs typeface="Times New Roman"/>
              </a:rPr>
              <a:t>What: </a:t>
            </a:r>
            <a:r>
              <a:rPr lang="en-US" sz="2000" dirty="0">
                <a:latin typeface="Times New Roman"/>
                <a:cs typeface="Times New Roman"/>
              </a:rPr>
              <a:t>A unique </a:t>
            </a:r>
            <a:r>
              <a:rPr lang="en-US" sz="2000" err="1">
                <a:latin typeface="Times New Roman"/>
                <a:cs typeface="Times New Roman"/>
              </a:rPr>
              <a:t>visuali</a:t>
            </a:r>
            <a:r>
              <a:rPr lang="en-US" sz="2000" dirty="0">
                <a:latin typeface="Times New Roman"/>
                <a:cs typeface="Times New Roman"/>
              </a:rPr>
              <a:t>zation that </a:t>
            </a:r>
            <a:r>
              <a:rPr lang="en-US" sz="2000">
                <a:latin typeface="Times New Roman"/>
                <a:cs typeface="Times New Roman"/>
              </a:rPr>
              <a:t>analyzes what specific hours within the shift (midnight, day, evening), a crime occurs.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Why:</a:t>
            </a:r>
            <a:r>
              <a:rPr lang="en-US" sz="2000" dirty="0">
                <a:latin typeface="Times New Roman"/>
                <a:cs typeface="Times New Roman"/>
              </a:rPr>
              <a:t> Goes in depth with the specific hours crime is dense.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Insight:</a:t>
            </a:r>
            <a:r>
              <a:rPr lang="en-US" sz="2000" dirty="0">
                <a:latin typeface="Times New Roman"/>
                <a:cs typeface="Times New Roman"/>
              </a:rPr>
              <a:t> When looking at the evening </a:t>
            </a:r>
            <a:r>
              <a:rPr lang="en-US" sz="2000">
                <a:latin typeface="Times New Roman"/>
                <a:cs typeface="Times New Roman"/>
              </a:rPr>
              <a:t>part</a:t>
            </a:r>
            <a:r>
              <a:rPr lang="en-US" sz="2000" dirty="0">
                <a:latin typeface="Times New Roman"/>
                <a:cs typeface="Times New Roman"/>
              </a:rPr>
              <a:t> of the graph, it is </a:t>
            </a:r>
            <a:r>
              <a:rPr lang="en-US" sz="2000">
                <a:latin typeface="Times New Roman"/>
                <a:cs typeface="Times New Roman"/>
              </a:rPr>
              <a:t>wider</a:t>
            </a:r>
            <a:r>
              <a:rPr lang="en-US" sz="2000" dirty="0">
                <a:latin typeface="Times New Roman"/>
                <a:cs typeface="Times New Roman"/>
              </a:rPr>
              <a:t> around hours 15-22, showing which </a:t>
            </a:r>
            <a:r>
              <a:rPr lang="en-US" sz="2000">
                <a:latin typeface="Times New Roman"/>
                <a:cs typeface="Times New Roman"/>
              </a:rPr>
              <a:t>part of the evening the most crimes occur. </a:t>
            </a:r>
          </a:p>
          <a:p>
            <a:r>
              <a:rPr lang="en-US" sz="2000" dirty="0">
                <a:latin typeface="Times New Roman"/>
                <a:cs typeface="Times New Roman"/>
              </a:rPr>
              <a:t>Other violins are more evenly </a:t>
            </a:r>
            <a:r>
              <a:rPr lang="en-US" sz="2000">
                <a:latin typeface="Times New Roman"/>
                <a:cs typeface="Times New Roman"/>
              </a:rPr>
              <a:t>dispersed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>
                <a:latin typeface="Times New Roman"/>
                <a:cs typeface="Times New Roman"/>
              </a:rPr>
              <a:t>while</a:t>
            </a:r>
            <a:r>
              <a:rPr lang="en-US" sz="2000" dirty="0">
                <a:latin typeface="Times New Roman"/>
                <a:cs typeface="Times New Roman"/>
              </a:rPr>
              <a:t> the evening and midnight plot spike at certain hours. </a:t>
            </a:r>
          </a:p>
        </p:txBody>
      </p:sp>
    </p:spTree>
    <p:extLst>
      <p:ext uri="{BB962C8B-B14F-4D97-AF65-F5344CB8AC3E}">
        <p14:creationId xmlns:p14="http://schemas.microsoft.com/office/powerpoint/2010/main" val="326668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BDF70-7402-21D0-DDC2-AA927905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cs typeface="Times New Roman"/>
              </a:rPr>
              <a:t>Additional Analysis: Count-plot </a:t>
            </a:r>
            <a:br>
              <a:rPr lang="en-US" sz="4000" b="1" dirty="0">
                <a:latin typeface="Times New Roman"/>
                <a:cs typeface="Times New Roman"/>
              </a:rPr>
            </a:br>
            <a:r>
              <a:rPr lang="en-US" sz="2100" b="1" i="1" u="sng">
                <a:highlight>
                  <a:srgbClr val="FFFFFF"/>
                </a:highlight>
                <a:latin typeface="Times New Roman"/>
                <a:cs typeface="Times New Roman"/>
              </a:rPr>
              <a:t>Does crime frequency differ by neighborhood cluster?</a:t>
            </a:r>
            <a:endParaRPr lang="en-US" sz="4000" b="1" u="sng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graph of crime frequency&#10;&#10;AI-generated content may be incorrect.">
            <a:extLst>
              <a:ext uri="{FF2B5EF4-FFF2-40B4-BE49-F238E27FC236}">
                <a16:creationId xmlns:a16="http://schemas.microsoft.com/office/drawing/2014/main" id="{651AD41D-BF95-7995-DA43-AD42978D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518661"/>
            <a:ext cx="5804955" cy="345394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B92700-0030-F701-84A4-24DAE594B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000" b="1" i="1" dirty="0">
                <a:latin typeface="Times New Roman"/>
                <a:cs typeface="Times New Roman"/>
              </a:rPr>
              <a:t>What:</a:t>
            </a:r>
            <a:r>
              <a:rPr lang="en-US" sz="2000" dirty="0">
                <a:latin typeface="Times New Roman"/>
                <a:cs typeface="Times New Roman"/>
              </a:rPr>
              <a:t> Looks at the occurrence of crime regarding different neighborhoods. </a:t>
            </a:r>
          </a:p>
          <a:p>
            <a:r>
              <a:rPr lang="en-US" sz="2000" b="1" i="1">
                <a:latin typeface="Times New Roman"/>
                <a:cs typeface="Times New Roman"/>
              </a:rPr>
              <a:t>Why: </a:t>
            </a:r>
            <a:r>
              <a:rPr lang="en-US" sz="2000">
                <a:latin typeface="Times New Roman"/>
                <a:cs typeface="Times New Roman"/>
              </a:rPr>
              <a:t>Analyzes the neighborhoods that experience higher crime rates. 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i="1" dirty="0">
                <a:latin typeface="Times New Roman"/>
                <a:cs typeface="Times New Roman"/>
              </a:rPr>
              <a:t>Insight:</a:t>
            </a:r>
            <a:r>
              <a:rPr lang="en-US" sz="2000" dirty="0">
                <a:latin typeface="Times New Roman"/>
                <a:cs typeface="Times New Roman"/>
              </a:rPr>
              <a:t> Crime </a:t>
            </a:r>
            <a:r>
              <a:rPr lang="en-US" sz="2000">
                <a:latin typeface="Times New Roman"/>
                <a:cs typeface="Times New Roman"/>
              </a:rPr>
              <a:t>occurrences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significantly differ in different neighborhoods. </a:t>
            </a:r>
          </a:p>
          <a:p>
            <a:r>
              <a:rPr lang="en-US" sz="2000" b="1" i="1" dirty="0">
                <a:latin typeface="Times New Roman"/>
                <a:cs typeface="Times New Roman"/>
              </a:rPr>
              <a:t>Example:</a:t>
            </a:r>
            <a:r>
              <a:rPr lang="en-US" sz="2000" dirty="0">
                <a:latin typeface="Times New Roman"/>
                <a:cs typeface="Times New Roman"/>
              </a:rPr>
              <a:t> While some </a:t>
            </a:r>
            <a:r>
              <a:rPr lang="en-US" sz="2000">
                <a:latin typeface="Times New Roman"/>
                <a:cs typeface="Times New Roman"/>
              </a:rPr>
              <a:t>neighborhood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cluster have a low frequency (cluster 41, 43, 40, etc.) some have a higher frequency of crime as seen by the longer bar (cluster 25, 8, 2). </a:t>
            </a:r>
          </a:p>
          <a:p>
            <a:r>
              <a:rPr lang="en-US" sz="2000">
                <a:latin typeface="Times New Roman"/>
                <a:cs typeface="Times New Roman"/>
              </a:rPr>
              <a:t>Social, economic factors and their influence.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0883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C9926-38B0-3020-50C3-74160386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cs typeface="Times New Roman"/>
              </a:rPr>
              <a:t>Additional Analysis: Box-Plot</a:t>
            </a:r>
            <a:br>
              <a:rPr lang="en-US" sz="4000" b="1" dirty="0">
                <a:latin typeface="Times New Roman"/>
                <a:cs typeface="Times New Roman"/>
              </a:rPr>
            </a:br>
            <a:r>
              <a:rPr lang="en-US" sz="2100" b="1" i="1">
                <a:highlight>
                  <a:srgbClr val="FFFFFF"/>
                </a:highlight>
                <a:latin typeface="Times New Roman"/>
                <a:cs typeface="Times New Roman"/>
              </a:rPr>
              <a:t>Does latitude (geographic location) vary by the type of offense committed?</a:t>
            </a:r>
            <a:endParaRPr lang="en-US" sz="4000" b="1" dirty="0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graph of a crime by location&#10;&#10;AI-generated content may be incorrect.">
            <a:extLst>
              <a:ext uri="{FF2B5EF4-FFF2-40B4-BE49-F238E27FC236}">
                <a16:creationId xmlns:a16="http://schemas.microsoft.com/office/drawing/2014/main" id="{412F7B22-F812-7914-A16B-8AABDB667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431586"/>
            <a:ext cx="5804955" cy="362809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461A95-0BBC-EEA3-956E-1FAE9F4BC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2000" b="1" i="1" dirty="0">
                <a:latin typeface="Times New Roman"/>
                <a:cs typeface="Times New Roman"/>
              </a:rPr>
              <a:t>What:</a:t>
            </a:r>
            <a:r>
              <a:rPr lang="en-US" sz="2000" dirty="0">
                <a:latin typeface="Times New Roman"/>
                <a:cs typeface="Times New Roman"/>
              </a:rPr>
              <a:t> Spatial dispersi</a:t>
            </a:r>
            <a:r>
              <a:rPr lang="en-US" sz="2000">
                <a:latin typeface="Times New Roman"/>
                <a:cs typeface="Times New Roman"/>
              </a:rPr>
              <a:t>on of geographic locations and where crimes and their type occur. 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i="1" dirty="0">
                <a:latin typeface="Times New Roman"/>
                <a:cs typeface="Times New Roman"/>
              </a:rPr>
              <a:t>Why:</a:t>
            </a:r>
            <a:r>
              <a:rPr lang="en-US" sz="2000" dirty="0">
                <a:latin typeface="Times New Roman"/>
                <a:cs typeface="Times New Roman"/>
              </a:rPr>
              <a:t> To analyze the role in geographic locations and crime types and to look for </a:t>
            </a:r>
            <a:r>
              <a:rPr lang="en-US" sz="2000">
                <a:latin typeface="Times New Roman"/>
                <a:cs typeface="Times New Roman"/>
              </a:rPr>
              <a:t>outliers</a:t>
            </a:r>
            <a:r>
              <a:rPr lang="en-US" sz="2000" dirty="0">
                <a:latin typeface="Times New Roman"/>
                <a:cs typeface="Times New Roman"/>
              </a:rPr>
              <a:t> in types of crimes committed. </a:t>
            </a:r>
          </a:p>
          <a:p>
            <a:r>
              <a:rPr lang="en-US" sz="2000" b="1" i="1">
                <a:latin typeface="Times New Roman"/>
                <a:cs typeface="Times New Roman"/>
              </a:rPr>
              <a:t>Insight:</a:t>
            </a:r>
            <a:r>
              <a:rPr lang="en-US" sz="2000">
                <a:latin typeface="Times New Roman"/>
                <a:cs typeface="Times New Roman"/>
              </a:rPr>
              <a:t> The box plot shows the median value as 38.89-38.91, meaning crimes occur in the same geographic location: Washington, D.C.</a:t>
            </a:r>
          </a:p>
          <a:p>
            <a:r>
              <a:rPr lang="en-US" sz="2000" dirty="0">
                <a:latin typeface="Times New Roman"/>
                <a:cs typeface="Times New Roman"/>
              </a:rPr>
              <a:t>Interquartile ranges: similar to one another</a:t>
            </a:r>
          </a:p>
          <a:p>
            <a:r>
              <a:rPr lang="en-US" sz="2000" dirty="0">
                <a:latin typeface="Times New Roman"/>
                <a:cs typeface="Times New Roman"/>
              </a:rPr>
              <a:t>The only crimes outside of the Washington, D.C area within our data are theft, motor vehicle theft, robbery, and </a:t>
            </a:r>
            <a:r>
              <a:rPr lang="en-US" sz="2000">
                <a:latin typeface="Times New Roman"/>
                <a:cs typeface="Times New Roman"/>
              </a:rPr>
              <a:t>an exceedingly small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part</a:t>
            </a:r>
            <a:r>
              <a:rPr lang="en-US" sz="2000" dirty="0">
                <a:latin typeface="Times New Roman"/>
                <a:cs typeface="Times New Roman"/>
              </a:rPr>
              <a:t> of burglary. </a:t>
            </a:r>
          </a:p>
        </p:txBody>
      </p:sp>
    </p:spTree>
    <p:extLst>
      <p:ext uri="{BB962C8B-B14F-4D97-AF65-F5344CB8AC3E}">
        <p14:creationId xmlns:p14="http://schemas.microsoft.com/office/powerpoint/2010/main" val="26380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box with lightbulb coming out of it&#10;&#10;AI-generated content may be incorrect.">
            <a:extLst>
              <a:ext uri="{FF2B5EF4-FFF2-40B4-BE49-F238E27FC236}">
                <a16:creationId xmlns:a16="http://schemas.microsoft.com/office/drawing/2014/main" id="{86FE7894-44EC-244A-6829-819DB6E180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77" b="-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C608B-F308-8DB9-B5A8-2BD6BAEB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Key Findings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2020C66D-E105-6771-5D33-7C81B72DA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4788384" cy="3742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Wingdings" panose="020B0604020202020204" pitchFamily="34" charset="0"/>
              <a:buChar char="ü"/>
            </a:pPr>
            <a:r>
              <a:rPr lang="en-US" sz="1800">
                <a:latin typeface="Times New Roman"/>
                <a:cs typeface="Times New Roman"/>
              </a:rPr>
              <a:t>Research questioned answered: Crime occurrences do vary by time. 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US" sz="1800" dirty="0">
                <a:latin typeface="Times New Roman"/>
                <a:cs typeface="Times New Roman"/>
              </a:rPr>
              <a:t>Crime frequency most prevalent during the evening (3-9 </a:t>
            </a:r>
            <a:r>
              <a:rPr lang="en-US" sz="1800">
                <a:latin typeface="Times New Roman"/>
                <a:cs typeface="Times New Roman"/>
              </a:rPr>
              <a:t>p.m.</a:t>
            </a:r>
            <a:r>
              <a:rPr lang="en-US" sz="1800" dirty="0">
                <a:latin typeface="Times New Roman"/>
                <a:cs typeface="Times New Roman"/>
              </a:rPr>
              <a:t>)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1800">
                <a:latin typeface="Times New Roman"/>
                <a:cs typeface="Times New Roman"/>
              </a:rPr>
              <a:t>The geographical location of crime occurrences do not play a significant role on crime. 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1800">
                <a:latin typeface="Times New Roman"/>
                <a:cs typeface="Times New Roman"/>
              </a:rPr>
              <a:t>Not a linear relationship between variables (based on categories.)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1800" dirty="0">
                <a:latin typeface="Times New Roman"/>
                <a:cs typeface="Times New Roman"/>
              </a:rPr>
              <a:t>Neighborhood plays a significant </a:t>
            </a:r>
            <a:r>
              <a:rPr lang="en-US" sz="1800">
                <a:latin typeface="Times New Roman"/>
                <a:cs typeface="Times New Roman"/>
              </a:rPr>
              <a:t>impact in the frequency of crimes. 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US" sz="1800" dirty="0">
                <a:latin typeface="Times New Roman"/>
                <a:cs typeface="Times New Roman"/>
              </a:rPr>
              <a:t>Differing crimes occur within the Washington, D.C area; however, slight differences from the mean as well as outliers exist suggesting crimes </a:t>
            </a:r>
            <a:r>
              <a:rPr lang="en-US" sz="1800">
                <a:latin typeface="Times New Roman"/>
                <a:cs typeface="Times New Roman"/>
              </a:rPr>
              <a:t>occurring</a:t>
            </a:r>
            <a:r>
              <a:rPr lang="en-US" sz="1800" dirty="0">
                <a:latin typeface="Times New Roman"/>
                <a:cs typeface="Times New Roman"/>
              </a:rPr>
              <a:t> outside this area. </a:t>
            </a:r>
          </a:p>
          <a:p>
            <a:pPr>
              <a:buFont typeface="Wingdings" panose="020B0604020202020204" pitchFamily="34" charset="0"/>
              <a:buChar char="ü"/>
            </a:pPr>
            <a:endParaRPr lang="en-US" sz="18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ü"/>
            </a:pP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297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78D69-9B12-7913-5BBF-96C5EFF4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magnifying glass over questions&#10;&#10;AI-generated content may be incorrect.">
            <a:extLst>
              <a:ext uri="{FF2B5EF4-FFF2-40B4-BE49-F238E27FC236}">
                <a16:creationId xmlns:a16="http://schemas.microsoft.com/office/drawing/2014/main" id="{401C6872-CA36-6143-112B-9A1AF072CD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19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850FB-FEAD-71E0-40DE-9E0B24DB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Limitations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5E816548-11E1-1084-9F09-FBD107A14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20B0604020202020204" pitchFamily="34" charset="0"/>
              <a:buChar char="ü"/>
            </a:pPr>
            <a:r>
              <a:rPr lang="en-US" sz="2000">
                <a:latin typeface="Times New Roman"/>
                <a:cs typeface="Times New Roman"/>
              </a:rPr>
              <a:t>Does not examine other categorical factors such as social status within neighborhoods, economic status, etc. </a:t>
            </a:r>
            <a:endParaRPr lang="en-US" sz="2000"/>
          </a:p>
          <a:p>
            <a:pPr>
              <a:buFont typeface="Wingdings" panose="020B0604020202020204" pitchFamily="34" charset="0"/>
              <a:buChar char="ü"/>
            </a:pPr>
            <a:r>
              <a:rPr lang="en-US" sz="2000">
                <a:latin typeface="Times New Roman"/>
                <a:cs typeface="Times New Roman"/>
              </a:rPr>
              <a:t>Laws, police enforcement, violations are not considered. 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2000">
                <a:latin typeface="Times New Roman"/>
                <a:cs typeface="Times New Roman"/>
              </a:rPr>
              <a:t>Data set strictly focuses on crimes that were reported within the Washington D.C area.  </a:t>
            </a:r>
          </a:p>
          <a:p>
            <a:pPr>
              <a:buFont typeface="Wingdings" panose="020B0604020202020204" pitchFamily="34" charset="0"/>
              <a:buChar char="ü"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2033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yellow tape with black text&#10;&#10;AI-generated content may be incorrect.">
            <a:extLst>
              <a:ext uri="{FF2B5EF4-FFF2-40B4-BE49-F238E27FC236}">
                <a16:creationId xmlns:a16="http://schemas.microsoft.com/office/drawing/2014/main" id="{141AC969-4D11-7635-9312-47F85F39E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89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461D54D9-A264-2107-FAB0-FB51C85D8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/>
                <a:cs typeface="Times New Roman"/>
              </a:rPr>
              <a:t>What Now? </a:t>
            </a:r>
            <a:br>
              <a:rPr lang="en-US" sz="4000" dirty="0">
                <a:latin typeface="Times New Roman"/>
                <a:cs typeface="Times New Roman"/>
              </a:rPr>
            </a:br>
            <a:r>
              <a:rPr lang="en-US" sz="4000">
                <a:latin typeface="Times New Roman"/>
                <a:cs typeface="Times New Roman"/>
              </a:rPr>
              <a:t>Solutions 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355146-DB2A-4E6C-D3E3-42CAD36A3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5780812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Expanding </a:t>
            </a:r>
            <a:r>
              <a:rPr lang="en-US" sz="2000">
                <a:latin typeface="Times New Roman"/>
                <a:cs typeface="Times New Roman"/>
              </a:rPr>
              <a:t>surveillance</a:t>
            </a:r>
            <a:r>
              <a:rPr lang="en-US" sz="2000" dirty="0">
                <a:latin typeface="Times New Roman"/>
                <a:cs typeface="Times New Roman"/>
              </a:rPr>
              <a:t> and police presence within certain areas in Washington D.C (Dupont Circle, </a:t>
            </a:r>
            <a:r>
              <a:rPr lang="en-US" sz="2000">
                <a:latin typeface="Times New Roman"/>
                <a:cs typeface="Times New Roman"/>
              </a:rPr>
              <a:t>National Mall, China-Town, etc.)</a:t>
            </a:r>
          </a:p>
          <a:p>
            <a:r>
              <a:rPr lang="en-US" sz="2000">
                <a:latin typeface="Times New Roman"/>
                <a:cs typeface="Times New Roman"/>
              </a:rPr>
              <a:t>Increasing more law enforcement/authorities within hours that have high crime frequency. 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Civic engagement programs + community service initiatives for neighborhood clusters with high crimes.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Data driven </a:t>
            </a:r>
            <a:r>
              <a:rPr lang="en-US" sz="2000" err="1">
                <a:latin typeface="Times New Roman"/>
                <a:cs typeface="Times New Roman"/>
              </a:rPr>
              <a:t>intiatives</a:t>
            </a:r>
            <a:r>
              <a:rPr lang="en-US" sz="2000" dirty="0">
                <a:latin typeface="Times New Roman"/>
                <a:cs typeface="Times New Roman"/>
              </a:rPr>
              <a:t>: Using existing data to assess the likelihood of a cr</a:t>
            </a:r>
            <a:r>
              <a:rPr lang="en-US" sz="2000">
                <a:latin typeface="Times New Roman"/>
                <a:cs typeface="Times New Roman"/>
              </a:rPr>
              <a:t>ime occurring. 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1806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37937-D80C-90B9-3014-982FDBAE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1C182A-142E-5C9D-F15E-8BDC4D886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olice officers standing around a car on a street&#10;&#10;AI-generated content may be incorrect.">
            <a:extLst>
              <a:ext uri="{FF2B5EF4-FFF2-40B4-BE49-F238E27FC236}">
                <a16:creationId xmlns:a16="http://schemas.microsoft.com/office/drawing/2014/main" id="{837E11AF-4E1C-4294-D6B7-EC1721FBC2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4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F4B71D-0467-1779-673F-8C0CEB1C5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8EFDC-68DD-B297-AB2C-A6414551C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Hour of the day plays a significant factor in crime frequency. </a:t>
            </a:r>
            <a:endParaRPr lang="en-US" sz="16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/>
                <a:cs typeface="Times New Roman"/>
              </a:rPr>
              <a:t>There should be high focus on times where</a:t>
            </a:r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 crime frequency is high.</a:t>
            </a:r>
            <a:endParaRPr lang="en-US" sz="16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/>
                <a:cs typeface="Times New Roman"/>
              </a:rPr>
              <a:t>Implementing more awareness/</a:t>
            </a:r>
            <a:r>
              <a:rPr lang="en-US" sz="1600" err="1">
                <a:solidFill>
                  <a:srgbClr val="FFFFFF"/>
                </a:solidFill>
                <a:latin typeface="Times New Roman"/>
                <a:cs typeface="Times New Roman"/>
              </a:rPr>
              <a:t>focu</a:t>
            </a:r>
            <a:r>
              <a:rPr lang="en-US" sz="1600" dirty="0">
                <a:solidFill>
                  <a:srgbClr val="FFFFFF"/>
                </a:solidFill>
                <a:latin typeface="Times New Roman"/>
                <a:cs typeface="Times New Roman"/>
              </a:rPr>
              <a:t>s on neighbo</a:t>
            </a:r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rhoods with higher prevalence of crime. </a:t>
            </a:r>
          </a:p>
          <a:p>
            <a:pPr marL="285750" indent="-285750"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/>
                <a:cs typeface="Times New Roman"/>
              </a:rPr>
              <a:t>Future investigations must focus on how to decrease/prevent future offenses from </a:t>
            </a:r>
            <a:r>
              <a:rPr lang="en-US" sz="1600" err="1">
                <a:solidFill>
                  <a:srgbClr val="FFFFFF"/>
                </a:solidFill>
                <a:latin typeface="Times New Roman"/>
                <a:cs typeface="Times New Roman"/>
              </a:rPr>
              <a:t>occuring</a:t>
            </a:r>
            <a:r>
              <a:rPr lang="en-US" sz="1600" dirty="0">
                <a:solidFill>
                  <a:srgbClr val="FFFFFF"/>
                </a:solidFill>
                <a:latin typeface="Times New Roman"/>
                <a:cs typeface="Times New Roman"/>
              </a:rPr>
              <a:t> by </a:t>
            </a:r>
            <a:r>
              <a:rPr lang="en-US" sz="1600">
                <a:solidFill>
                  <a:srgbClr val="FFFFFF"/>
                </a:solidFill>
                <a:latin typeface="Times New Roman"/>
                <a:cs typeface="Times New Roman"/>
              </a:rPr>
              <a:t>taking data-driven action.</a:t>
            </a:r>
            <a:endParaRPr lang="en-US" sz="16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2884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Crimes and Their Patterns: Visual Inspection</vt:lpstr>
      <vt:lpstr>Data Set Overview </vt:lpstr>
      <vt:lpstr>Objective: Crime Analysis</vt:lpstr>
      <vt:lpstr>Data Cleaning &amp; Preparation</vt:lpstr>
      <vt:lpstr>Key Analysis Questions</vt:lpstr>
      <vt:lpstr>Histogram – Number of Crimes per Hour</vt:lpstr>
      <vt:lpstr>Heatmap – Is this a simple relationship?</vt:lpstr>
      <vt:lpstr>Geo-map: Evening Crime Incidents</vt:lpstr>
      <vt:lpstr>Animated Line Plot Chart</vt:lpstr>
      <vt:lpstr>Violin Plot</vt:lpstr>
      <vt:lpstr>Additional Analysis: Count-plot  Does crime frequency differ by neighborhood cluster?</vt:lpstr>
      <vt:lpstr>Additional Analysis: Box-Plot Does latitude (geographic location) vary by the type of offense committed?</vt:lpstr>
      <vt:lpstr>Key Findings</vt:lpstr>
      <vt:lpstr>Limitations</vt:lpstr>
      <vt:lpstr>What Now?  Solutions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856</cp:revision>
  <dcterms:created xsi:type="dcterms:W3CDTF">2026-04-26T19:33:46Z</dcterms:created>
  <dcterms:modified xsi:type="dcterms:W3CDTF">2026-04-28T19:10:37Z</dcterms:modified>
</cp:coreProperties>
</file>